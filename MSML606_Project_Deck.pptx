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9" r:id="rId4"/>
  </p:sldMasterIdLst>
  <p:notesMasterIdLst>
    <p:notesMasterId r:id="rId15"/>
  </p:notesMasterIdLst>
  <p:handoutMasterIdLst>
    <p:handoutMasterId r:id="rId16"/>
  </p:handoutMasterIdLst>
  <p:sldIdLst>
    <p:sldId id="2561" r:id="rId5"/>
    <p:sldId id="2563" r:id="rId6"/>
    <p:sldId id="2565" r:id="rId7"/>
    <p:sldId id="2567" r:id="rId8"/>
    <p:sldId id="2569" r:id="rId9"/>
    <p:sldId id="2571" r:id="rId10"/>
    <p:sldId id="2573" r:id="rId11"/>
    <p:sldId id="2579" r:id="rId12"/>
    <p:sldId id="2575" r:id="rId13"/>
    <p:sldId id="258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uilding a Real-World Word Lookup Tool with Custom Hashing" id="{8B860447-838F-4778-8C7C-55E3BF0DC1D0}">
          <p14:sldIdLst>
            <p14:sldId id="2561"/>
          </p14:sldIdLst>
        </p14:section>
        <p14:section name="Project Overview" id="{AD68C537-B82E-4979-9819-991C64A8292B}">
          <p14:sldIdLst>
            <p14:sldId id="2563"/>
          </p14:sldIdLst>
        </p14:section>
        <p14:section name="Core Algorithm" id="{3E2DF546-7526-4C18-A05F-778BDD55C8AF}">
          <p14:sldIdLst>
            <p14:sldId id="2565"/>
          </p14:sldIdLst>
        </p14:section>
        <p14:section name="Data Preprocessing" id="{5A4817FA-F8D1-42E9-BECA-7C83360E21CB}">
          <p14:sldIdLst>
            <p14:sldId id="2567"/>
          </p14:sldIdLst>
        </p14:section>
        <p14:section name="Metadata Aggregation" id="{2AEDE892-BA04-4BFB-8B11-34292BAD7F5B}">
          <p14:sldIdLst>
            <p14:sldId id="2569"/>
          </p14:sldIdLst>
        </p14:section>
        <p14:section name="Performance and Scalability" id="{3FCDD2C9-060A-4EC0-9935-54C995822E13}">
          <p14:sldIdLst>
            <p14:sldId id="2571"/>
          </p14:sldIdLst>
        </p14:section>
        <p14:section name="Hash Function Design" id="{680DD12C-8E2E-4724-A163-CC7C6433594B}">
          <p14:sldIdLst>
            <p14:sldId id="2573"/>
            <p14:sldId id="2579"/>
          </p14:sldIdLst>
        </p14:section>
        <p14:section name="User-Facing Features" id="{F4289523-83CB-446D-AAAD-74CA92EE8C29}">
          <p14:sldIdLst>
            <p14:sldId id="2575"/>
            <p14:sldId id="2580"/>
          </p14:sldIdLst>
        </p14:section>
        <p14:section name="Summary" id="{CDAD36C2-9AC7-42E3-85B0-07721D1E8515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39A418-C943-DD85-ADF2-615A2809C342}" name="Michaele Watts" initials="mlw" userId="Michaele Watts" providerId="None"/>
  <p188:author id="{010E4221-6F06-64E5-5214-772388C857B5}" name="Elizabeth Feldbruegge (ALLEGIS GROUP HOLDINGS INC)" initials="EF(GHI" userId="S::v-felizabeth@microsoft.com::ba5aea11-28e4-484d-8e49-c15efb1bd2e9" providerId="AD"/>
  <p188:author id="{E2471F2E-E011-F521-299E-65FC243E7E5E}" name="David Salaguinto" initials="DS" userId="S::davidsa@microsoft.com::9399e6ad-b974-43d0-b593-8c2804f84e0d" providerId="AD"/>
  <p188:author id="{9941987A-41B7-49AC-EE6E-03F2D0BD95BA}" name="Daria Naidenov" initials="DN" userId="S::danaidenov@microsoft.com::ab38ab5f-bdf0-4774-ae5a-d2782abb2027" providerId="AD"/>
  <p188:author id="{05079B93-9652-6626-7181-414354FAD15D}" name="Sher Dionisio" initials="SD" userId="Sher Dionisio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A31D3"/>
    <a:srgbClr val="F3DA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49" autoAdjust="0"/>
    <p:restoredTop sz="90405" autoAdjust="0"/>
  </p:normalViewPr>
  <p:slideViewPr>
    <p:cSldViewPr snapToGrid="0">
      <p:cViewPr varScale="1">
        <p:scale>
          <a:sx n="57" d="100"/>
          <a:sy n="57" d="100"/>
        </p:scale>
        <p:origin x="79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410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590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444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558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014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721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838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153C7-2416-A4E6-AD3B-8F864AE9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B0498-8281-4CC9-B50D-2C7AB586A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0B6491-DD77-3121-BD52-3A443B65F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70B4F-6C74-BE9C-2416-F580E4FE8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349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384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A8664-F0A5-0D4A-9187-194A7084A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B38AC-731C-80E9-E5EC-1CA700249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2270E4-726C-806B-C69A-B25E7F4A0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0C489-E104-2F28-75CA-9942A5374E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429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8B974-A06E-1A89-BE65-4559FBB82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A71391-3E44-1839-0A8F-E2E6B4776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177A0-8E5D-1CF6-8F13-02AAD19A8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38416-3101-C830-9656-46E1B4A86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3D949-B894-D47A-5A5A-33DABE8A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0475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BB5B4-9485-AC29-0CEB-ACE72827D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29848-44EB-826A-13BC-E8D8513A1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2F56C-1C2E-3162-E8EA-9BEE0A8F3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7CD1C-761C-FCA0-F1C2-29577DE77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25BC1-36F3-F8BD-859D-A950F7196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88529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D98AB-66BB-3678-72AE-09B1F9F77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1D0F8-FA6B-252F-BF85-A036E2DD1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B1324-509A-81F5-8112-72B2AFA26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91671-A3DB-B79D-494D-CA83438E1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57292-47CC-5F07-D8FF-8B3BCC19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2628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3561D-766C-9720-2E89-5680AE42F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681B3-4F6C-2254-E5E5-EC481B8DCC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FB548-C67C-5385-1FE2-77B3CC19E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3BB76-FC86-C9D1-1AB9-A703E2DB3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5F144-A8EC-BB36-8440-D79B0C4E3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3D787-6079-68CB-AD4D-3FCD0D5E3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1230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BF781-5518-D5DA-8BD1-F833E783F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BECFB-0E49-FD50-F5CA-9F035B4EF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87165-E98E-6DB0-1B2B-CF5B73A09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D293D1-A27D-5B11-2F3A-F50D0AAF22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05D9E0-95EC-FB1F-A18E-FE30C91A5F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33272-5FA4-B200-E878-30D243B9C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9C2A0C-87CA-0561-66B2-40D2A4B1A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1D13C8-D038-5B2E-EF2D-681302193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3238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0172E-3BEF-3A54-B4B5-7201858DF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A6742E-099D-31A0-D832-5B36C893A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5040-F7E0-40EC-B8E9-CED28200FAA3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CA8F4-FD1B-4A79-1857-806EB4CBF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AB4212-621C-0159-A535-931F7AA3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043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7DA4F-1ADC-FF2E-24D1-979E76BCF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A1CCD1-3FAF-3294-611C-DFE5658F0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D00E1-C207-7EEC-5ED2-2C7D9842F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7844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0C296-9F4A-AE88-FA51-F527EF2B8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B312B-20C4-FFD0-D081-1F327C9E8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DCFF7-F604-1FD1-C607-E94168FB3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683EE-9C98-CFD7-9E51-9CD0363C9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986DF-7001-4427-B988-1FF9924A9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9C387-97E5-D256-A6F1-F20FB7E4A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968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D5527-498B-0C78-E93D-A6AD0E25D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25E9BE-6735-2480-D96A-80EB203115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C0F5C1-5740-96D9-D274-55AF2CCCB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33A52-8FA8-3239-FF3E-75742EDCE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1E6695-CC94-55F1-F6B5-D039A5195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2E53D-4155-FA88-D9D1-645C168E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00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E4427-F0DA-5CFE-96E2-91247535B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5B315A-5A47-4A69-BC7F-9BC03E700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3691D-8575-6317-3622-D90CDFFBE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A0347-F16A-0888-044C-6CFB0CA19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2D5F6-CC3E-63EF-302A-CD7B2C157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3978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E451D6-D1A8-5319-F837-063BFED02B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6B8A0-3FC4-245C-06ED-DE7EE9052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C1ED5-B03A-2935-C68B-F256AB59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C354D-F32F-1DE1-1F3E-644099C57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90A16-0331-68B3-BF45-9DB83C327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30190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3CF6B10-9A05-A63E-2BC3-C8D55D0D2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54238"/>
            <a:ext cx="7876287" cy="3592629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FA8333A-04DC-D74B-258C-1EB6D22D4B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4616450"/>
            <a:ext cx="7377113" cy="1016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89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8640"/>
            <a:ext cx="4145582" cy="539496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548640"/>
            <a:ext cx="5681662" cy="5394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601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D96F6A0-07FF-1828-19D1-FE1D9B921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8640"/>
            <a:ext cx="11060134" cy="73152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1463040"/>
            <a:ext cx="11064240" cy="493776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1006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dirty="0"/>
              <a:t>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9EADE56-83C3-A0FE-16E6-4951D4852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2" y="1129552"/>
            <a:ext cx="6305441" cy="3475237"/>
          </a:xfrm>
        </p:spPr>
        <p:txBody>
          <a:bodyPr anchor="b">
            <a:normAutofit/>
          </a:bodyPr>
          <a:lstStyle>
            <a:lvl1pPr>
              <a:defRPr sz="5400" baseline="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A12605A-4E59-2133-7372-7B21BC55C9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69150" y="4730750"/>
            <a:ext cx="4205288" cy="11858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821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6858000"/>
          </a:xfrm>
          <a:blipFill>
            <a:blip r:embed="rId2">
              <a:alphaModFix amt="70000"/>
            </a:blip>
            <a:stretch>
              <a:fillRect l="-1" r="-1"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59CFCC-A209-BC62-7D95-E14802747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4578236"/>
            <a:ext cx="11460480" cy="1005840"/>
          </a:xfrm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A8C58E-A6CA-D397-8711-C68CD070C4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3460" y="5668625"/>
            <a:ext cx="10813415" cy="48037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0204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dirty="0"/>
              <a:t>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FCD2E37-9854-D80D-B906-C29C37FAA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8" y="411480"/>
            <a:ext cx="6309360" cy="3739896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27C0618-21FB-9390-740F-2734A4B2C28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5125" y="4873625"/>
            <a:ext cx="4206875" cy="1381125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281F2-D41E-9A50-1809-3B8BE4C397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914400" cy="365125"/>
          </a:xfrm>
        </p:spPr>
        <p:txBody>
          <a:bodyPr/>
          <a:lstStyle/>
          <a:p>
            <a:fld id="{D291CE83-67BA-4B15-B48A-7DC5C0636664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57431-3702-2B75-B5FF-84422A85DB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61086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3A420-FE13-2F4D-C208-338D8B00A6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95519" y="6453002"/>
            <a:ext cx="379443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972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19ACF5-397A-E5C4-7B24-185F5D614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4578236"/>
            <a:ext cx="11460480" cy="1005840"/>
          </a:xfrm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94DB79-4401-7DDD-FF63-CDCECE6DBD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51560" y="5668963"/>
            <a:ext cx="10775315" cy="47942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638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25BA9F2-E4EE-DC00-38EB-9DB37D8DB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8229600" cy="3635796"/>
          </a:xfrm>
        </p:spPr>
        <p:txBody>
          <a:bodyPr>
            <a:noAutofit/>
          </a:bodyPr>
          <a:lstStyle>
            <a:lvl1pPr>
              <a:defRPr sz="72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A4A78EC-6E25-CB64-8758-D3143F0EC5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4473575"/>
            <a:ext cx="6654800" cy="1544638"/>
          </a:xfrm>
        </p:spPr>
        <p:txBody>
          <a:bodyPr anchor="b">
            <a:norm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467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EE9D05A-2BD6-0F92-5A5D-FFA6FFF54EA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7050" y="0"/>
            <a:ext cx="658495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64108"/>
            <a:ext cx="7007353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1792" y="2560318"/>
            <a:ext cx="4381756" cy="384048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1028700" indent="-342900">
              <a:buFont typeface="+mj-lt"/>
              <a:buAutoNum type="arabicParenR"/>
              <a:defRPr sz="1400"/>
            </a:lvl4pPr>
            <a:lvl5pPr marL="1257300" indent="-342900">
              <a:buFont typeface="+mj-lt"/>
              <a:buAutoNum type="alphaLcParenR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731520" cy="365125"/>
          </a:xfrm>
        </p:spPr>
        <p:txBody>
          <a:bodyPr/>
          <a:lstStyle/>
          <a:p>
            <a:fld id="{8A60B404-9532-4DA8-8A40-EC339A5BE635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4098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19500" y="6453002"/>
            <a:ext cx="384048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818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D3947E4-0E5A-6C3B-F8B1-906CCD4AF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3172968"/>
            <a:ext cx="438912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653C462-6951-9D34-B643-4C411CF5B04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72784" y="3172523"/>
            <a:ext cx="4572000" cy="22860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7FC12-63BB-4A63-9424-BFBF8E1D71D9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369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CFBEC6DB-65AC-E7B8-5B01-86A24AC4A9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030965" cy="6858000"/>
          </a:xfrm>
          <a:blipFill>
            <a:blip r:embed="rId2">
              <a:alphaModFix amt="70000"/>
            </a:blip>
            <a:stretch>
              <a:fillRect l="58" t="1" b="-8023"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2648" y="548639"/>
            <a:ext cx="4757112" cy="246888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7202" y="3168722"/>
            <a:ext cx="3273552" cy="2884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0814F-321B-0961-76C0-D43819D01B7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321040" y="6453002"/>
            <a:ext cx="1097280" cy="365125"/>
          </a:xfrm>
        </p:spPr>
        <p:txBody>
          <a:bodyPr/>
          <a:lstStyle/>
          <a:p>
            <a:fld id="{D291CE83-67BA-4B15-B48A-7DC5C0636664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F9EDD3-41A3-11D1-DCB0-9A8126C5D7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418320" y="6453002"/>
            <a:ext cx="2234578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89D9E49-2211-8D1A-C39E-2884056E6C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102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713A3F4-E223-745E-5A5E-95DF707B229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dirty="0"/>
              <a:t>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5484" y="548639"/>
            <a:ext cx="4948747" cy="155448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56079"/>
            <a:ext cx="3401568" cy="405264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E7F2C8-9BB5-5A36-DB20-9787777B5325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212790" y="6453002"/>
            <a:ext cx="700122" cy="365125"/>
          </a:xfrm>
        </p:spPr>
        <p:txBody>
          <a:bodyPr/>
          <a:lstStyle/>
          <a:p>
            <a:fld id="{D291CE83-67BA-4B15-B48A-7DC5C0636664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82E6E-2852-09FE-EC5A-6731A616887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9981282" y="6453002"/>
            <a:ext cx="1671616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912C2-0382-F60C-2417-551BD5AC333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1270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713A3F4-E223-745E-5A5E-95DF707B229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8639"/>
            <a:ext cx="4937760" cy="146304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792" y="2256079"/>
            <a:ext cx="3401568" cy="405264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0E7DDD-6501-D485-19E0-E21C13045FC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C5AD7-9689-4766-9146-F208F76BCED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71151" y="6453002"/>
            <a:ext cx="1561447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D21F3F-3845-6D40-C9D6-BE26C3852D5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3661626" y="6453002"/>
            <a:ext cx="379443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614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1005840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3B5F72B-0708-4E77-756F-A5A83827C6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792" y="1828798"/>
            <a:ext cx="4937761" cy="4480561"/>
          </a:xfrm>
          <a:blipFill>
            <a:blip r:embed="rId2">
              <a:alphaModFix amt="70000"/>
            </a:blip>
            <a:stretch>
              <a:fillRect l="-185" t="-6123" b="1"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2373" y="1828800"/>
            <a:ext cx="5577840" cy="44805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5329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BFB767-CAF2-628B-7675-91B983B225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811529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dirty="0"/>
              <a:t>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34B03A4-39B7-F5C1-D964-CA069C0F7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647698"/>
            <a:ext cx="4225166" cy="2420757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40C7A95-E12A-CD85-629E-0A9E34DCE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4931" y="647699"/>
            <a:ext cx="2689367" cy="5562599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  <a:lvl2pPr marL="514350" indent="-285750">
              <a:buFont typeface="Arial" panose="020B0604020202020204" pitchFamily="34" charset="0"/>
              <a:buChar char="•"/>
              <a:defRPr/>
            </a:lvl2pPr>
            <a:lvl3pPr marL="742950" indent="-285750">
              <a:buFont typeface="Arial" panose="020B0604020202020204" pitchFamily="34" charset="0"/>
              <a:buChar char="•"/>
              <a:defRPr/>
            </a:lvl3pPr>
            <a:lvl4pPr marL="971550" indent="-285750">
              <a:buFont typeface="Arial" panose="020B0604020202020204" pitchFamily="34" charset="0"/>
              <a:buChar char="•"/>
              <a:defRPr/>
            </a:lvl4pPr>
            <a:lvl5pPr marL="10858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357F-46A1-493A-A5E4-1D7FAE5B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58DE0-2D5A-4C5D-BB9F-60B17AEDD2D8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77BC-26F9-4B14-A2DC-C7575C5A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C3FF-EE25-45FB-A7A8-AAA522F7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107C-2248-4498-B52C-AA96C67291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7829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BFB767-CAF2-628B-7675-91B983B225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981200" y="0"/>
            <a:ext cx="10210798" cy="50673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B520403-BDFD-00AF-7685-E3C2366A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47700"/>
            <a:ext cx="5181600" cy="259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1DFE5C8-DAB2-CA31-6958-050610D77A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93888" y="5559425"/>
            <a:ext cx="8278812" cy="65087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357F-46A1-493A-A5E4-1D7FAE5B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58DE0-2D5A-4C5D-BB9F-60B17AEDD2D8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77BC-26F9-4B14-A2DC-C7575C5A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C3FF-EE25-45FB-A7A8-AAA522F7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107C-2248-4498-B52C-AA96C67291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3861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BFB767-CAF2-628B-7675-91B983B225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9342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A48BCDE-4694-0B11-3F5D-030F758E5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2" y="1712200"/>
            <a:ext cx="6019892" cy="1896956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E27908E-38A7-B900-61E8-3AB5DD0862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96000" y="4672013"/>
            <a:ext cx="5448300" cy="1538287"/>
          </a:xfrm>
        </p:spPr>
        <p:txBody>
          <a:bodyPr anchor="t">
            <a:normAutofit fontScale="85000" lnSpcReduction="10000"/>
          </a:bodyPr>
          <a:lstStyle/>
          <a:p>
            <a:pPr marL="0" lvl="0" indent="0" algn="r">
              <a:buNone/>
            </a:pPr>
            <a:r>
              <a:rPr lang="en-US" sz="200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357F-46A1-493A-A5E4-1D7FAE5B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58DE0-2D5A-4C5D-BB9F-60B17AEDD2D8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77BC-26F9-4B14-A2DC-C7575C5A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C3FF-EE25-45FB-A7A8-AAA522F7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107C-2248-4498-B52C-AA96C67291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2065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8E65BD-66C5-5FF8-C229-BB94A762D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6916" y="646438"/>
            <a:ext cx="4199074" cy="4641176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800" b="0" cap="none" spc="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2A23D75-581D-5D22-B65B-6248EE14840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9750" y="566739"/>
            <a:ext cx="6427788" cy="566831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3200" b="1" spc="600" baseline="0">
                <a:solidFill>
                  <a:schemeClr val="bg1"/>
                </a:solidFill>
                <a:highlight>
                  <a:srgbClr val="000000"/>
                </a:highlight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309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DA5FB0-3233-6F76-899A-A1958FBA8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480" y="5120640"/>
            <a:ext cx="8321040" cy="1188720"/>
          </a:xfrm>
        </p:spPr>
        <p:txBody>
          <a:bodyPr>
            <a:normAutofit/>
          </a:bodyPr>
          <a:lstStyle>
            <a:lvl1pPr algn="ctr">
              <a:lnSpc>
                <a:spcPct val="120000"/>
              </a:lnSpc>
              <a:spcBef>
                <a:spcPts val="1000"/>
              </a:spcBef>
              <a:defRPr sz="2800" b="0" cap="none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964560E1-132E-6944-7C66-491949C93CD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1906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3200" b="1" cap="all" spc="6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325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EC46D51-F742-0411-C425-9FB4333D8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937760"/>
            <a:ext cx="7525512" cy="1371600"/>
          </a:xfrm>
        </p:spPr>
        <p:txBody>
          <a:bodyPr>
            <a:normAutofit/>
          </a:bodyPr>
          <a:lstStyle>
            <a:lvl1pPr algn="ctr">
              <a:lnSpc>
                <a:spcPct val="120000"/>
              </a:lnSpc>
              <a:spcBef>
                <a:spcPts val="1000"/>
              </a:spcBef>
              <a:defRPr sz="2800" b="0" cap="none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C6CC1002-9B76-86F0-267A-B8FA2E4F68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1906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3200" b="1" cap="all" spc="600" baseline="0">
                <a:solidFill>
                  <a:schemeClr val="bg1"/>
                </a:solidFill>
                <a:highlight>
                  <a:srgbClr val="FFFFFF"/>
                </a:highlight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974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ED47E9A-5ED0-EFA2-2AB1-8DCD288130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5428752"/>
            <a:ext cx="9189720" cy="466344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1000"/>
              </a:spcBef>
              <a:defRPr sz="2200" cap="none" spc="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A1702E0-62FB-C224-7CC1-48B8DC9D833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87424" y="1164194"/>
            <a:ext cx="9204960" cy="368212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cap="all" spc="600" baseline="0">
                <a:solidFill>
                  <a:schemeClr val="bg1"/>
                </a:solidFill>
                <a:highlight>
                  <a:srgbClr val="000000"/>
                </a:highlight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050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BB8AB19-AEDC-217A-D173-1E75DCDE3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349240"/>
            <a:ext cx="9198864" cy="466344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1000"/>
              </a:spcBef>
              <a:defRPr sz="2200" cap="none" spc="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24DB12-4761-115A-B7C3-84A7B8EA0C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3520" y="1344168"/>
            <a:ext cx="9204960" cy="329184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cap="all" spc="600" baseline="0">
                <a:solidFill>
                  <a:schemeClr val="bg1"/>
                </a:solidFill>
                <a:highlight>
                  <a:srgbClr val="FFFFFF"/>
                </a:highlight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7CA6-BC1D-429A-A289-4E939E49554A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646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EB6EFAB-F8F1-D75D-ADD0-35D3E8380B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961120" cy="46634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spcBef>
                <a:spcPts val="1000"/>
              </a:spcBef>
              <a:defRPr sz="2200" cap="none" spc="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A28042F-A2CA-CE28-9169-9C1C2C6C0D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235710"/>
            <a:ext cx="8961438" cy="316865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cap="all" spc="600" baseline="0">
                <a:solidFill>
                  <a:schemeClr val="bg1"/>
                </a:solidFill>
                <a:highlight>
                  <a:srgbClr val="000000"/>
                </a:highlight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819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03504"/>
            <a:ext cx="10741152" cy="1132258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6F375645-3969-960F-95E9-FF521D145C6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792" y="1825624"/>
            <a:ext cx="5157788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B472D51-340A-8B1E-44B0-506409708C6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72200" y="1825624"/>
            <a:ext cx="5183188" cy="43513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5B10-D26A-480A-9509-A9831C5E60D8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7271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03504"/>
            <a:ext cx="10745788" cy="822960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792" y="155448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spc="200" baseline="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785DE4-AACB-128C-17BA-30E12F86F1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792" y="2194559"/>
            <a:ext cx="5157788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5448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spc="200" baseline="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3DB6B8D4-5453-863F-5D39-32D600D938E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72200" y="2194559"/>
            <a:ext cx="5183188" cy="4114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9074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1"/>
                </a:solidFill>
                <a:highlight>
                  <a:srgbClr val="FFFFFF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987AA-E4E6-4FC1-BAD8-09A952212C58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3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F1B37A-419F-6612-5313-0ACE78BB0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AE81B-65CF-E9BE-2D8A-48EF17DF7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89814-A8DA-3C3F-8C1F-5C99C43CA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1CE83-67BA-4B15-B48A-7DC5C0636664}" type="datetime1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E824E-E8C6-2951-C1D2-5941FC2D8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36BBF-D26F-C431-9764-0587AB4A6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500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  <p:sldLayoutId id="2147483871" r:id="rId12"/>
    <p:sldLayoutId id="2147483873" r:id="rId13"/>
    <p:sldLayoutId id="2147483874" r:id="rId14"/>
    <p:sldLayoutId id="2147483789" r:id="rId15"/>
    <p:sldLayoutId id="2147483858" r:id="rId16"/>
    <p:sldLayoutId id="2147483790" r:id="rId17"/>
    <p:sldLayoutId id="2147483788" r:id="rId18"/>
    <p:sldLayoutId id="2147483785" r:id="rId19"/>
    <p:sldLayoutId id="2147483850" r:id="rId20"/>
    <p:sldLayoutId id="2147483857" r:id="rId21"/>
    <p:sldLayoutId id="2147483811" r:id="rId22"/>
    <p:sldLayoutId id="2147483809" r:id="rId23"/>
    <p:sldLayoutId id="2147483852" r:id="rId24"/>
    <p:sldLayoutId id="2147483854" r:id="rId25"/>
    <p:sldLayoutId id="2147483843" r:id="rId26"/>
    <p:sldLayoutId id="2147483844" r:id="rId27"/>
    <p:sldLayoutId id="2147483845" r:id="rId28"/>
    <p:sldLayoutId id="2147483818" r:id="rId29"/>
    <p:sldLayoutId id="2147483819" r:id="rId30"/>
    <p:sldLayoutId id="2147483820" r:id="rId31"/>
    <p:sldLayoutId id="2147483822" r:id="rId32"/>
    <p:sldLayoutId id="2147483823" r:id="rId33"/>
    <p:sldLayoutId id="2147483824" r:id="rId34"/>
    <p:sldLayoutId id="2147483825" r:id="rId35"/>
    <p:sldLayoutId id="2147483826" r:id="rId36"/>
    <p:sldLayoutId id="2147483831" r:id="rId3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6A254-2DEA-2C38-E29A-5921BFACA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 dirty="0">
                <a:solidFill>
                  <a:schemeClr val="tx1"/>
                </a:solidFill>
                <a:highlight>
                  <a:srgbClr val="FFFFFF"/>
                </a:highlight>
              </a:rPr>
              <a:t>Lookup Tool Using Hash Tables Using Google Books N-Gram Dataset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1F0DD-8363-AED1-91D0-5191756FB3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Developing efficient word searches using hashing methods</a:t>
            </a:r>
          </a:p>
          <a:p>
            <a:r>
              <a:rPr lang="en-US" dirty="0"/>
              <a:t>By: Taner Bulbul</a:t>
            </a:r>
          </a:p>
        </p:txBody>
      </p:sp>
    </p:spTree>
    <p:extLst>
      <p:ext uri="{BB962C8B-B14F-4D97-AF65-F5344CB8AC3E}">
        <p14:creationId xmlns:p14="http://schemas.microsoft.com/office/powerpoint/2010/main" val="3878325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9B106-99CB-E82A-849A-02A7AAA95803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31179" y="1123175"/>
            <a:ext cx="10788706" cy="5394960"/>
          </a:xfrm>
        </p:spPr>
        <p:txBody>
          <a:bodyPr>
            <a:normAutofit fontScale="92500"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Custom Hash Table Implementation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The project uses a</a:t>
            </a:r>
            <a:r>
              <a:rPr lang="en-US" dirty="0"/>
              <a:t> </a:t>
            </a:r>
            <a:r>
              <a:rPr dirty="0"/>
              <a:t>custom-built hash table for fast data lookup, avoiding built-in dictionaries.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Google </a:t>
            </a:r>
            <a:r>
              <a:rPr lang="en-US" b="1" dirty="0" err="1"/>
              <a:t>Ngram</a:t>
            </a:r>
            <a:r>
              <a:rPr lang="en-US" b="1" dirty="0"/>
              <a:t> Dataset Usage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Raw </a:t>
            </a:r>
            <a:r>
              <a:rPr dirty="0" err="1"/>
              <a:t>Ngram</a:t>
            </a:r>
            <a:r>
              <a:rPr dirty="0"/>
              <a:t> data files are processed </a:t>
            </a:r>
            <a:r>
              <a:rPr lang="en-US" dirty="0"/>
              <a:t>and cleaned from special characters and speech tags. Used 1-Ngram dataset with a subset of 200,000 words starting with ‘a’.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2800" b="1" dirty="0"/>
              <a:t>User Interaction and Autocomplete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The command-line interface allows word lookup and provides intelligent autocomplete suggestions based on frequency.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Algorithm-Centered Design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The design highlights algorithmic rigor by focusing on hashing applied to noisy, large-scale data.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5AD1698-B048-1F8A-7A07-BAD935B80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058" y="339865"/>
            <a:ext cx="11224948" cy="559969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dirty="0"/>
              <a:t>Project </a:t>
            </a:r>
            <a:r>
              <a:rPr lang="en-US" dirty="0" err="1"/>
              <a:t>Overiew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8112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D1A9F-27C0-DE39-81A4-8A8B2C4E1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614" y="322063"/>
            <a:ext cx="10787978" cy="487141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dirty="0"/>
              <a:t>Custom Hash Table with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C8513-DB27-8F71-B0F5-946607DACB8D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93614" y="1205714"/>
            <a:ext cx="10707786" cy="4737886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Hash Table Structure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The hash table uses open addressing with linear probing to resolve collisions effectively.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Collision Handling Importance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Proper collision handling ensures correctness and maintains performance in insert and search operations.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Dynamic Resizing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dirty="0"/>
              <a:t>Initial hash table size is doubled and is adjusted to a prime value if the load factor reaches 0.7.  </a:t>
            </a:r>
          </a:p>
        </p:txBody>
      </p:sp>
    </p:spTree>
    <p:extLst>
      <p:ext uri="{BB962C8B-B14F-4D97-AF65-F5344CB8AC3E}">
        <p14:creationId xmlns:p14="http://schemas.microsoft.com/office/powerpoint/2010/main" val="37748269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77231-51A1-746E-CE97-D412075E7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970" y="548640"/>
            <a:ext cx="11224948" cy="559969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dirty="0"/>
              <a:t>Handling Noise in Real-World </a:t>
            </a:r>
            <a:r>
              <a:rPr lang="en-US" dirty="0" err="1"/>
              <a:t>Ngram</a:t>
            </a:r>
            <a:r>
              <a:rPr lang="en-US" dirty="0"/>
              <a:t>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E5AF1-A8DF-7729-A2EC-8AF215AA6EAA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36970" y="1351370"/>
            <a:ext cx="10764430" cy="4592230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Normalization of Tokens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Convert all words to lowercase and remove non-alphabetic characters to ensure consistency in token representation.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Structured Data Parsing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Parse each line as a tab-separated record with exactly four fields for validity and consistent extraction.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Suffix Noise Reduction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Split tokens at underscores and retain only the base word to reduce noisy suffixes and annotations.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Cleaner Dataset for Algorithms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Preprocessing transforms raw noisy data into clean, consistent keys suitable for reliable algorithmic processing.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1304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8D977-C0B6-D2C5-6D25-776BF1A6B22B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2600" b="1" dirty="0"/>
              <a:t>Raw Data</a:t>
            </a:r>
          </a:p>
          <a:p>
            <a:pPr marL="0" lvl="1" indent="0">
              <a:buNone/>
            </a:pPr>
            <a:r>
              <a:rPr lang="en-US" sz="2200" dirty="0"/>
              <a:t>1-Ngram data looks as below in the raw format: </a:t>
            </a:r>
          </a:p>
          <a:p>
            <a:pPr marL="0" lvl="1" indent="0">
              <a:buNone/>
            </a:pPr>
            <a:r>
              <a:rPr lang="en-US" sz="1900" b="1" dirty="0"/>
              <a:t>Word 	     		Year	Match Count  	Volume Count</a:t>
            </a:r>
          </a:p>
          <a:p>
            <a:pPr marL="0" lvl="1" indent="0">
              <a:buNone/>
            </a:pPr>
            <a:r>
              <a:rPr lang="en-US" sz="1900" b="1" dirty="0" err="1"/>
              <a:t>ANTlBlOTlC_NOUN</a:t>
            </a:r>
            <a:r>
              <a:rPr lang="en-US" sz="1900" b="1" dirty="0"/>
              <a:t>	\t 1975    \t8		 \t 3</a:t>
            </a:r>
          </a:p>
          <a:p>
            <a:pPr marL="0" lvl="1" indent="0">
              <a:buNone/>
            </a:pPr>
            <a:r>
              <a:rPr lang="en-US" sz="1900" b="1" dirty="0" err="1"/>
              <a:t>ANTlBlOTlC_NOUN</a:t>
            </a:r>
            <a:r>
              <a:rPr lang="en-US" sz="1900" b="1" dirty="0"/>
              <a:t>	1977	1		1</a:t>
            </a:r>
          </a:p>
          <a:p>
            <a:pPr marL="0" lvl="1" indent="0">
              <a:buNone/>
            </a:pPr>
            <a:r>
              <a:rPr lang="en-US" sz="1900" b="1" dirty="0" err="1"/>
              <a:t>ANTlBlOTlC_NOUN</a:t>
            </a:r>
            <a:r>
              <a:rPr lang="en-US" sz="1900" b="1" dirty="0"/>
              <a:t>	1978	2		1</a:t>
            </a:r>
          </a:p>
          <a:p>
            <a:pPr marL="0" lvl="1" indent="0">
              <a:buNone/>
            </a:pPr>
            <a:r>
              <a:rPr lang="en-US" sz="1900" b="1" dirty="0" err="1"/>
              <a:t>ANTlBlOTlC_NOUN</a:t>
            </a:r>
            <a:r>
              <a:rPr lang="en-US" sz="1900" b="1" dirty="0"/>
              <a:t>	1979	3		3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2600" b="1" dirty="0"/>
              <a:t>Rich Metadata Storage	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sz="2200" dirty="0"/>
              <a:t>The hash table stores </a:t>
            </a:r>
            <a:r>
              <a:rPr lang="en-US" sz="2200" dirty="0"/>
              <a:t>the word as keys, match count, and volume count as metadata. It adds all the counts for all of the years for a word.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2600" b="1" dirty="0"/>
              <a:t>Aggregation of Data Fields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 err="1"/>
              <a:t>Match_count</a:t>
            </a:r>
            <a:r>
              <a:rPr dirty="0"/>
              <a:t> and </a:t>
            </a:r>
            <a:r>
              <a:rPr dirty="0" err="1"/>
              <a:t>volume_count</a:t>
            </a:r>
            <a:r>
              <a:rPr dirty="0"/>
              <a:t> fields are aggregated to reflect total occurrences and distribution across books.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3F47E9-74B4-EAF5-55AE-7481F2095818}"/>
              </a:ext>
            </a:extLst>
          </p:cNvPr>
          <p:cNvSpPr txBox="1">
            <a:spLocks/>
          </p:cNvSpPr>
          <p:nvPr/>
        </p:nvSpPr>
        <p:spPr>
          <a:xfrm>
            <a:off x="436970" y="548640"/>
            <a:ext cx="11224948" cy="55996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highlight>
                  <a:srgbClr val="000000"/>
                </a:highligh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Storing and Aggregating Multiple Metadata Fields</a:t>
            </a:r>
          </a:p>
        </p:txBody>
      </p:sp>
    </p:spTree>
    <p:extLst>
      <p:ext uri="{BB962C8B-B14F-4D97-AF65-F5344CB8AC3E}">
        <p14:creationId xmlns:p14="http://schemas.microsoft.com/office/powerpoint/2010/main" val="30558236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FC247-1ADB-5D36-B803-A053ADD37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67" y="379516"/>
            <a:ext cx="10974095" cy="535693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dirty="0"/>
              <a:t>Efficient Processing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F582B-6081-0D4A-D80B-7C479311BC8C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42167" y="1181437"/>
            <a:ext cx="10707786" cy="5029200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Dataset Processing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The system processes the </a:t>
            </a:r>
            <a:r>
              <a:rPr lang="en-US" dirty="0"/>
              <a:t>200,000 entries from the 1-Ngram file. 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Automatic Hash Table Resizing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Automatic resizing occurs when the load factor reaches 0.7, maintaining efficient hash table operations.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Prime Number Table Expansion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Resizing expands the hash table to the next prime number to improve key distribution and reduce clustering.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4389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A8779-EADD-CFFA-A8DE-796600EE9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1" y="548640"/>
            <a:ext cx="10642321" cy="511417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dirty="0"/>
              <a:t>DJB2-Style String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27E86-F3C2-13AB-2827-34AE3A0D3992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21792" y="1254264"/>
            <a:ext cx="10579608" cy="4689335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Sequential Character Processing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The hash function processes each string character sequentially to combine values for a robust hash output.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Mixing and Modulo Operation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Character mixing and </a:t>
            </a:r>
            <a:r>
              <a:rPr lang="en-US" dirty="0"/>
              <a:t>division hashing to </a:t>
            </a:r>
            <a:r>
              <a:rPr dirty="0"/>
              <a:t>ensure well-distributed hash values and proper indexing.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Collision Reduction Importance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Using a strong hash function reduces collisions, improving search and insertion efficiency in hash tables.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Algorithmic Design Choice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The deliberate selection of DJB2-style hashing highlights the importance of algorithmic decisions on performance.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0076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48029-E4DB-16E5-4D90-D7BF667F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6B8E-EDC5-4EE4-DF2D-848C059C1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1" y="548640"/>
            <a:ext cx="10642321" cy="511417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/>
              <a:t>DJB2-Style String Hashing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0BF4C-FE74-AE01-3773-909D7B5EB8D8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28282" y="4574825"/>
            <a:ext cx="10473117" cy="136877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dirty="0"/>
              <a:t>Each character in the word is converted to a number using the DJB2 algorithm. Then use the division hash.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BD21FD-A832-F1BA-33B2-B833EED05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19" y="1254264"/>
            <a:ext cx="10142754" cy="312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06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5E60-880D-D52F-AB9E-682BD2FC1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19" y="330155"/>
            <a:ext cx="10636982" cy="584246"/>
          </a:xfrm>
        </p:spPr>
        <p:txBody>
          <a:bodyPr anchor="t">
            <a:normAutofit/>
          </a:bodyPr>
          <a:lstStyle/>
          <a:p>
            <a:pPr algn="ctr"/>
            <a:r>
              <a:rPr lang="en-US" sz="3100" dirty="0"/>
              <a:t>CLI Search and Autocomplete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FBE65-0621-9001-0BE0-56A8938E281B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77430" y="1043872"/>
            <a:ext cx="10723970" cy="4899727"/>
          </a:xfrm>
        </p:spPr>
        <p:txBody>
          <a:bodyPr>
            <a:normAutofit fontScale="77500" lnSpcReduction="20000"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User Interaction with CLI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The command-line interface allows users to input words and interact with the search algorithm simply and effectively.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Direct Lookup Using </a:t>
            </a:r>
            <a:r>
              <a:rPr lang="en-US" b="1" dirty="0" err="1"/>
              <a:t>Hashmap</a:t>
            </a:r>
            <a:endParaRPr lang="en-US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Users perform direct word lookups via </a:t>
            </a:r>
            <a:r>
              <a:rPr dirty="0" err="1"/>
              <a:t>hashmap</a:t>
            </a:r>
            <a:r>
              <a:rPr dirty="0"/>
              <a:t> search, enabling quick access to stored data entries.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Autocomplete Suggestion Logic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If a word is not found, the system generates autocomplete-style suggestions ranked by frequency for user convenience.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Concept Visualization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This CLI feature visually demonstrates hashing, collision handling, and metadata aggregation in an intuitive way.</a:t>
            </a:r>
            <a:endParaRPr lang="en-US" dirty="0"/>
          </a:p>
          <a:p>
            <a:pPr marL="0" indent="0">
              <a:spcBef>
                <a:spcPts val="2500"/>
              </a:spcBef>
              <a:buNone/>
            </a:pPr>
            <a:r>
              <a:rPr lang="en-US" b="1" dirty="0"/>
              <a:t>Performance Measurement</a:t>
            </a:r>
          </a:p>
          <a:p>
            <a:pPr marL="0" lvl="1" indent="0">
              <a:buNone/>
            </a:pPr>
            <a:r>
              <a:rPr lang="en-US" dirty="0"/>
              <a:t>Performance is measured via probe tracking and runtime timing to provide evidence of algorithm efficiency.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3672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03918-4B24-DE7A-E921-645F4E04D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73F62-C440-19AB-0DFA-3698E22AA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4212" y="403896"/>
            <a:ext cx="4612265" cy="716980"/>
          </a:xfrm>
        </p:spPr>
        <p:txBody>
          <a:bodyPr anchor="t">
            <a:normAutofit/>
          </a:bodyPr>
          <a:lstStyle/>
          <a:p>
            <a:pPr algn="ctr"/>
            <a:r>
              <a:rPr lang="en-US" sz="3100" dirty="0"/>
              <a:t>CLI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D50DCFB-A6BC-A297-E7FA-CF8C55493EB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97587" y="106065"/>
            <a:ext cx="6306452" cy="626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3824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194D626-FF99-4D14-A6F7-C95F3B6638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C405A2-288D-4ACA-9C67-9C5EE383EE05}">
  <ds:schemaRefs>
    <ds:schemaRef ds:uri="http://purl.org/dc/dcmitype/"/>
    <ds:schemaRef ds:uri="http://www.w3.org/XML/1998/namespace"/>
    <ds:schemaRef ds:uri="http://purl.org/dc/elements/1.1/"/>
    <ds:schemaRef ds:uri="http://schemas.microsoft.com/sharepoint/v3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230e9df3-be65-4c73-a93b-d1236ebd677e"/>
    <ds:schemaRef ds:uri="71af3243-3dd4-4a8d-8c0d-dd76da1f02a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20973AB-2219-419D-9825-C20FDA65DD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5568</TotalTime>
  <Words>675</Words>
  <Application>Microsoft Office PowerPoint</Application>
  <PresentationFormat>Widescreen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Franklin Gothic Medium</vt:lpstr>
      <vt:lpstr>Office Theme</vt:lpstr>
      <vt:lpstr>Lookup Tool Using Hash Tables Using Google Books N-Gram Dataset </vt:lpstr>
      <vt:lpstr>Project Overiew</vt:lpstr>
      <vt:lpstr>Custom Hash Table with Linear Probing</vt:lpstr>
      <vt:lpstr>Handling Noise in Real-World Ngram Data</vt:lpstr>
      <vt:lpstr>PowerPoint Presentation</vt:lpstr>
      <vt:lpstr>Efficient Processing at Scale</vt:lpstr>
      <vt:lpstr>DJB2-Style String Hashing</vt:lpstr>
      <vt:lpstr>DJB2-Style String Hashing</vt:lpstr>
      <vt:lpstr>CLI Search and Autocomplete</vt:lpstr>
      <vt:lpstr>CLI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Taner Bulbul</dc:creator>
  <cp:lastModifiedBy>Taner Baki Bulbul</cp:lastModifiedBy>
  <cp:revision>6</cp:revision>
  <dcterms:created xsi:type="dcterms:W3CDTF">2024-06-26T20:20:27Z</dcterms:created>
  <dcterms:modified xsi:type="dcterms:W3CDTF">2026-03-24T17:29:57Z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